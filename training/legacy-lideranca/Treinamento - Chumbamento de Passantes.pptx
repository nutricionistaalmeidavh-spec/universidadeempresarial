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E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4754880" cy="36576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900" b="1">
                <a:solidFill>
                  <a:srgbClr val="1F5B7A"/>
                </a:solidFill>
                <a:latin typeface="Aptos"/>
              </a:defRPr>
            </a:pPr>
            <a:r>
              <a:t>Treinamento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6583680" cy="9601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3400" b="1">
                <a:solidFill>
                  <a:srgbClr val="23282D"/>
                </a:solidFill>
                <a:latin typeface="Aptos"/>
              </a:defRPr>
            </a:pPr>
            <a:r>
              <a:t>Chumbamento de passantes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2057400"/>
            <a:ext cx="5303520" cy="6400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600" b="0">
                <a:solidFill>
                  <a:srgbClr val="5F676E"/>
                </a:solidFill>
                <a:latin typeface="Aptos"/>
              </a:defRPr>
            </a:pPr>
            <a:r>
              <a:t>Padrão de execução para deixar o entorno dos tubos liso, nivelado e pronto para impermeabilização.</a:t>
            </a:r>
          </a:p>
        </p:txBody>
      </p:sp>
      <p:pic>
        <p:nvPicPr>
          <p:cNvPr id="5" name="Picture 4" descr="foto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063" y="411480"/>
            <a:ext cx="3368992" cy="5989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5394960"/>
            <a:ext cx="5120640" cy="502920"/>
          </a:xfrm>
          <a:prstGeom prst="rect">
            <a:avLst/>
          </a:prstGeom>
          <a:solidFill>
            <a:srgbClr val="1F5B7A"/>
          </a:solidFill>
          <a:ln>
            <a:solidFill>
              <a:srgbClr val="1F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513832"/>
            <a:ext cx="4892040" cy="21031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Aptos"/>
              </a:defRPr>
            </a:pPr>
            <a:r>
              <a:t>Objetivo: reduzir retrabalho, falhas de aderência e risco de infiltração nos pontos críticos.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2600" b="1">
                <a:solidFill>
                  <a:srgbClr val="23282D"/>
                </a:solidFill>
                <a:latin typeface="Aptos"/>
              </a:defRPr>
            </a:pPr>
            <a:r>
              <a:t>Por que este serviço é crítico?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2743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0">
                <a:solidFill>
                  <a:srgbClr val="5F676E"/>
                </a:solidFill>
                <a:latin typeface="Aptos"/>
              </a:defRPr>
            </a:pPr>
            <a:r>
              <a:t>O passante é uma interrupção na superfície: qualquer falha vira caminho preferencial para água.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1F5B7A"/>
          </a:solidFill>
          <a:ln>
            <a:solidFill>
              <a:srgbClr val="1F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347472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1417320"/>
            <a:ext cx="347472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417320"/>
            <a:ext cx="347472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91640"/>
            <a:ext cx="292608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2100" b="1">
                <a:solidFill>
                  <a:srgbClr val="1F5B7A"/>
                </a:solidFill>
                <a:latin typeface="Aptos"/>
              </a:defRPr>
            </a:pPr>
            <a:r>
              <a:t>Estanqueidade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880360" cy="1325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600" b="0">
                <a:solidFill>
                  <a:srgbClr val="23282D"/>
                </a:solidFill>
                <a:latin typeface="Aptos"/>
              </a:defRPr>
            </a:pPr>
            <a:r>
              <a:t>A impermeabilização depende de base contínua e bem aderida para impedir passagem de água no encontro piso/tubo.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01752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2100" b="1">
                <a:solidFill>
                  <a:srgbClr val="1F5B7A"/>
                </a:solidFill>
                <a:latin typeface="Aptos"/>
              </a:defRPr>
            </a:pPr>
            <a:r>
              <a:t>Aderência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40280"/>
            <a:ext cx="2880360" cy="1325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600" b="0">
                <a:solidFill>
                  <a:srgbClr val="23282D"/>
                </a:solidFill>
                <a:latin typeface="Aptos"/>
              </a:defRPr>
            </a:pPr>
            <a:r>
              <a:t>Poeira, ninho, ondulação e partes soltas reduzem contato do impermeabilizante e favorecem descolamento.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40"/>
            <a:ext cx="301752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2100" b="1">
                <a:solidFill>
                  <a:srgbClr val="1F5B7A"/>
                </a:solidFill>
                <a:latin typeface="Aptos"/>
              </a:defRPr>
            </a:pPr>
            <a:r>
              <a:t>Durabilidade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40280"/>
            <a:ext cx="2880360" cy="14173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600" b="0">
                <a:solidFill>
                  <a:srgbClr val="23282D"/>
                </a:solidFill>
                <a:latin typeface="Aptos"/>
              </a:defRPr>
            </a:pPr>
            <a:r>
              <a:t>Quando o chumbamento nasce correto, a proteção mecânica e o acabamento trabalham sem ponto alto, fissura ou acúmulo de água.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72200"/>
            <a:ext cx="10881360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00" b="0">
                <a:solidFill>
                  <a:srgbClr val="5F676E"/>
                </a:solidFill>
                <a:latin typeface="Aptos"/>
              </a:defRPr>
            </a:pPr>
            <a:r>
              <a:t>Base técnica usada no treinamento: NBR 9575, NBR 9574, práticas de preparo de substrato e boletins de fabricantes.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2600" b="1">
                <a:solidFill>
                  <a:srgbClr val="23282D"/>
                </a:solidFill>
                <a:latin typeface="Aptos"/>
              </a:defRPr>
            </a:pPr>
            <a:r>
              <a:t>Padrão aceito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2743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0">
                <a:solidFill>
                  <a:srgbClr val="5F676E"/>
                </a:solidFill>
                <a:latin typeface="Aptos"/>
              </a:defRPr>
            </a:pPr>
            <a:r>
              <a:t>Como deve ficar antes de liberar para impermeabilização.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1F5B7A"/>
          </a:solidFill>
          <a:ln>
            <a:solidFill>
              <a:srgbClr val="1F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074920" cy="4480560"/>
          </a:xfrm>
          <a:prstGeom prst="rect">
            <a:avLst/>
          </a:prstGeom>
          <a:noFill/>
        </p:spPr>
        <p:txBody>
          <a:bodyPr wrap="none" lIns="109728" rIns="109728" tIns="73152" bIns="7315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Tubo/passante rigidamente fixado, sem movimentação ao toque.</a:t>
            </a:r>
          </a:p>
          <a:p>
            <a:pPr>
              <a:spcAft>
                <a:spcPts val="7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Argamassa bem compactada no entorno, sem vazios, ninhos, trincas ou partes soltas.</a:t>
            </a:r>
          </a:p>
          <a:p>
            <a:pPr>
              <a:spcAft>
                <a:spcPts val="7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Acabamento liso, coeso e sem protuberâncias.</a:t>
            </a:r>
          </a:p>
          <a:p>
            <a:pPr>
              <a:spcAft>
                <a:spcPts val="7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Nível regular no entorno do passante, sem ondulações que criem ponto alto ou empoçamento.</a:t>
            </a:r>
          </a:p>
          <a:p>
            <a:pPr>
              <a:spcAft>
                <a:spcPts val="7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Superfície limpa, sem pó, graxa, resíduos soltos ou excesso de nata fraca.</a:t>
            </a:r>
          </a:p>
          <a:p>
            <a:pPr>
              <a:spcAft>
                <a:spcPts val="7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Arremate compatível com o sistema de impermeabilização indicado para a área.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417320"/>
            <a:ext cx="25146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8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oto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943" y="1490472"/>
            <a:ext cx="2047113" cy="3639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1928" y="5202936"/>
            <a:ext cx="2295144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1">
                <a:solidFill>
                  <a:srgbClr val="2D7D4E"/>
                </a:solidFill>
                <a:latin typeface="Aptos"/>
              </a:defRPr>
            </a:pPr>
            <a:r>
              <a:t>Foto 5 | Certo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5404104"/>
            <a:ext cx="2295144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850" b="0">
                <a:solidFill>
                  <a:srgbClr val="5F676E"/>
                </a:solidFill>
                <a:latin typeface="Aptos"/>
              </a:defRPr>
            </a:pPr>
            <a:r>
              <a:t>Base lisa e contínua junto ao tubo.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5400" y="1417320"/>
            <a:ext cx="25146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8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oto-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143" y="1490472"/>
            <a:ext cx="2047113" cy="3639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25128" y="5202936"/>
            <a:ext cx="2295144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1">
                <a:solidFill>
                  <a:srgbClr val="2D7D4E"/>
                </a:solidFill>
                <a:latin typeface="Aptos"/>
              </a:defRPr>
            </a:pPr>
            <a:r>
              <a:t>Foto 7 | Certo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5128" y="5404104"/>
            <a:ext cx="2295144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850" b="0">
                <a:solidFill>
                  <a:srgbClr val="5F676E"/>
                </a:solidFill>
                <a:latin typeface="Aptos"/>
              </a:defRPr>
            </a:pPr>
            <a:r>
              <a:t>Entorno regularizado para receber impermeabilização.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2600" b="1">
                <a:solidFill>
                  <a:srgbClr val="23282D"/>
                </a:solidFill>
                <a:latin typeface="Aptos"/>
              </a:defRPr>
            </a:pPr>
            <a:r>
              <a:t>Exemplos corretos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2743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0">
                <a:solidFill>
                  <a:srgbClr val="5F676E"/>
                </a:solidFill>
                <a:latin typeface="Aptos"/>
              </a:defRPr>
            </a:pPr>
            <a:r>
              <a:t>Fotos com chumbamento liso e pronto para impermeabilização, após limpeza final.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1F5B7A"/>
          </a:solidFill>
          <a:ln>
            <a:solidFill>
              <a:srgbClr val="1F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26974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8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to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99032"/>
            <a:ext cx="2304288" cy="409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" y="5568696"/>
            <a:ext cx="2478024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1">
                <a:solidFill>
                  <a:srgbClr val="2D7D4E"/>
                </a:solidFill>
                <a:latin typeface="Aptos"/>
              </a:defRPr>
            </a:pPr>
            <a:r>
              <a:t>Foto 1 | Certo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69864"/>
            <a:ext cx="2478024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850" b="0">
                <a:solidFill>
                  <a:srgbClr val="5F676E"/>
                </a:solidFill>
                <a:latin typeface="Aptos"/>
              </a:defRPr>
            </a:pPr>
            <a:r>
              <a:t>Área preenchida e regularizada.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325880"/>
            <a:ext cx="26974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8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oto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596" y="1399032"/>
            <a:ext cx="2304288" cy="4096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38728" y="5568696"/>
            <a:ext cx="2478024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1">
                <a:solidFill>
                  <a:srgbClr val="2D7D4E"/>
                </a:solidFill>
                <a:latin typeface="Aptos"/>
              </a:defRPr>
            </a:pPr>
            <a:r>
              <a:t>Foto 2 | Certo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5769864"/>
            <a:ext cx="2478024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850" b="0">
                <a:solidFill>
                  <a:srgbClr val="5F676E"/>
                </a:solidFill>
                <a:latin typeface="Aptos"/>
              </a:defRPr>
            </a:pPr>
            <a:r>
              <a:t>Arremate contínuo ao redor do passante.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325880"/>
            <a:ext cx="26974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8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oto-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1399032"/>
            <a:ext cx="2304288" cy="4096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64808" y="5568696"/>
            <a:ext cx="2478024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1">
                <a:solidFill>
                  <a:srgbClr val="2D7D4E"/>
                </a:solidFill>
                <a:latin typeface="Aptos"/>
              </a:defRPr>
            </a:pPr>
            <a:r>
              <a:t>Foto 3 | Certo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5769864"/>
            <a:ext cx="2478024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850" b="0">
                <a:solidFill>
                  <a:srgbClr val="5F676E"/>
                </a:solidFill>
                <a:latin typeface="Aptos"/>
              </a:defRPr>
            </a:pPr>
            <a:r>
              <a:t>Passante alinhado e base fechada.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325880"/>
            <a:ext cx="26974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8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oto-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7756" y="1399032"/>
            <a:ext cx="2304288" cy="40965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90888" y="5568696"/>
            <a:ext cx="2478024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1">
                <a:solidFill>
                  <a:srgbClr val="2D7D4E"/>
                </a:solidFill>
                <a:latin typeface="Aptos"/>
              </a:defRPr>
            </a:pPr>
            <a:r>
              <a:t>Foto 5 | Certo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5769864"/>
            <a:ext cx="2478024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850" b="0">
                <a:solidFill>
                  <a:srgbClr val="5F676E"/>
                </a:solidFill>
                <a:latin typeface="Aptos"/>
              </a:defRPr>
            </a:pPr>
            <a:r>
              <a:t>Superfície lisa no perímetro.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2600" b="1">
                <a:solidFill>
                  <a:srgbClr val="23282D"/>
                </a:solidFill>
                <a:latin typeface="Aptos"/>
              </a:defRPr>
            </a:pPr>
            <a:r>
              <a:t>Mais exemplos corretos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2743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0">
                <a:solidFill>
                  <a:srgbClr val="5F676E"/>
                </a:solidFill>
                <a:latin typeface="Aptos"/>
              </a:defRPr>
            </a:pPr>
            <a:r>
              <a:t>O acabamento deve permitir continuidade da impermeabilização no encontro com o tubo.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1F5B7A"/>
          </a:solidFill>
          <a:ln>
            <a:solidFill>
              <a:srgbClr val="1F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365760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E8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to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197" y="1399032"/>
            <a:ext cx="2330005" cy="4142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4128" y="5614416"/>
            <a:ext cx="3438144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1">
                <a:solidFill>
                  <a:srgbClr val="2D7D4E"/>
                </a:solidFill>
                <a:latin typeface="Aptos"/>
              </a:defRPr>
            </a:pPr>
            <a:r>
              <a:t>Foto 6 | Certo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5815584"/>
            <a:ext cx="3438144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850" b="0">
                <a:solidFill>
                  <a:srgbClr val="5F676E"/>
                </a:solidFill>
                <a:latin typeface="Aptos"/>
              </a:defRPr>
            </a:pPr>
            <a:r>
              <a:t>Chumbamento regular e sem ressalto crítico.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325880"/>
            <a:ext cx="365760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E8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oto-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397" y="1399032"/>
            <a:ext cx="2330005" cy="4142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10328" y="5614416"/>
            <a:ext cx="3438144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1">
                <a:solidFill>
                  <a:srgbClr val="2D7D4E"/>
                </a:solidFill>
                <a:latin typeface="Aptos"/>
              </a:defRPr>
            </a:pPr>
            <a:r>
              <a:t>Foto 7 | Certo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5815584"/>
            <a:ext cx="3438144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850" b="0">
                <a:solidFill>
                  <a:srgbClr val="5F676E"/>
                </a:solidFill>
                <a:latin typeface="Aptos"/>
              </a:defRPr>
            </a:pPr>
            <a:r>
              <a:t>Regularização homogênea no entorno.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463040"/>
            <a:ext cx="25146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783080"/>
            <a:ext cx="205740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800" b="1">
                <a:solidFill>
                  <a:srgbClr val="B07C2D"/>
                </a:solidFill>
                <a:latin typeface="Aptos"/>
              </a:defRPr>
            </a:pPr>
            <a:r>
              <a:t>Atenção antes de liberar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331720"/>
            <a:ext cx="2011680" cy="196596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400" b="0">
                <a:solidFill>
                  <a:srgbClr val="23282D"/>
                </a:solidFill>
                <a:latin typeface="Aptos"/>
              </a:defRPr>
            </a:pPr>
            <a:r>
              <a:t>Mesmo nos exemplos certos, remover poeira e resíduos soltos antes da imprimação ou da primeira demão. O aspecto final esperado é superfície firme, limpa, lisa e sem ondulações.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2600" b="1">
                <a:solidFill>
                  <a:srgbClr val="23282D"/>
                </a:solidFill>
                <a:latin typeface="Aptos"/>
              </a:defRPr>
            </a:pPr>
            <a:r>
              <a:t>Exemplos errados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2743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0">
                <a:solidFill>
                  <a:srgbClr val="5F676E"/>
                </a:solidFill>
                <a:latin typeface="Aptos"/>
              </a:defRPr>
            </a:pPr>
            <a:r>
              <a:t>Fotos 4, 8, 9 e 10: não liberar para impermeabilização.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1F5B7A"/>
          </a:solidFill>
          <a:ln>
            <a:solidFill>
              <a:srgbClr val="1F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26974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8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to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99032"/>
            <a:ext cx="2304288" cy="409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" y="5568696"/>
            <a:ext cx="2478024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1">
                <a:solidFill>
                  <a:srgbClr val="A63737"/>
                </a:solidFill>
                <a:latin typeface="Aptos"/>
              </a:defRPr>
            </a:pPr>
            <a:r>
              <a:t>Foto 4 | Errado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69864"/>
            <a:ext cx="2478024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850" b="0">
                <a:solidFill>
                  <a:srgbClr val="5F676E"/>
                </a:solidFill>
                <a:latin typeface="Aptos"/>
              </a:defRPr>
            </a:pPr>
            <a:r>
              <a:t>Desnível e acabamento ondulado.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325880"/>
            <a:ext cx="26974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8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oto-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196" y="1399032"/>
            <a:ext cx="2301087" cy="4096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38728" y="5568696"/>
            <a:ext cx="2478024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1">
                <a:solidFill>
                  <a:srgbClr val="A63737"/>
                </a:solidFill>
                <a:latin typeface="Aptos"/>
              </a:defRPr>
            </a:pPr>
            <a:r>
              <a:t>Foto 8 | Errado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5769864"/>
            <a:ext cx="2478024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850" b="0">
                <a:solidFill>
                  <a:srgbClr val="5F676E"/>
                </a:solidFill>
                <a:latin typeface="Aptos"/>
              </a:defRPr>
            </a:pPr>
            <a:r>
              <a:t>Vazio junto à parede e tubo sem arremate adequado.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325880"/>
            <a:ext cx="26974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8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oto-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76" y="1399032"/>
            <a:ext cx="2301087" cy="4096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64808" y="5568696"/>
            <a:ext cx="2478024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1">
                <a:solidFill>
                  <a:srgbClr val="A63737"/>
                </a:solidFill>
                <a:latin typeface="Aptos"/>
              </a:defRPr>
            </a:pPr>
            <a:r>
              <a:t>Foto 9 | Errado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5769864"/>
            <a:ext cx="2478024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850" b="0">
                <a:solidFill>
                  <a:srgbClr val="5F676E"/>
                </a:solidFill>
                <a:latin typeface="Aptos"/>
              </a:defRPr>
            </a:pPr>
            <a:r>
              <a:t>Irregularidades, poeira e textura fraca.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325880"/>
            <a:ext cx="26974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8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oto-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9356" y="1399032"/>
            <a:ext cx="2301087" cy="40965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90888" y="5568696"/>
            <a:ext cx="2478024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1">
                <a:solidFill>
                  <a:srgbClr val="A63737"/>
                </a:solidFill>
                <a:latin typeface="Aptos"/>
              </a:defRPr>
            </a:pPr>
            <a:r>
              <a:t>Foto 10 | Errado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5769864"/>
            <a:ext cx="2478024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850" b="0">
                <a:solidFill>
                  <a:srgbClr val="5F676E"/>
                </a:solidFill>
                <a:latin typeface="Aptos"/>
              </a:defRPr>
            </a:pPr>
            <a:r>
              <a:t>Ondulação e borda levantada.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2600" b="1">
                <a:solidFill>
                  <a:srgbClr val="23282D"/>
                </a:solidFill>
                <a:latin typeface="Aptos"/>
              </a:defRPr>
            </a:pPr>
            <a:r>
              <a:t>O que corrigir nos casos errados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2743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0">
                <a:solidFill>
                  <a:srgbClr val="5F676E"/>
                </a:solidFill>
                <a:latin typeface="Aptos"/>
              </a:defRPr>
            </a:pPr>
            <a:r>
              <a:t>Critério prático para retrabalho antes da impermeabilização.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1F5B7A"/>
          </a:solidFill>
          <a:ln>
            <a:solidFill>
              <a:srgbClr val="1F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257800" cy="4526280"/>
          </a:xfrm>
          <a:prstGeom prst="rect">
            <a:avLst/>
          </a:prstGeom>
          <a:noFill/>
        </p:spPr>
        <p:txBody>
          <a:bodyPr wrap="none" lIns="109728" rIns="109728" tIns="73152" bIns="73152">
            <a:spAutoFit/>
          </a:bodyPr>
          <a:lstStyle/>
          <a:p>
            <a:pPr>
              <a:spcAft>
                <a:spcPts val="700"/>
              </a:spcAft>
              <a:defRPr sz="1750">
                <a:solidFill>
                  <a:srgbClr val="23282D"/>
                </a:solidFill>
                <a:latin typeface="Aptos"/>
              </a:defRPr>
            </a:pPr>
            <a:r>
              <a:t>Remover material solto, nata fraca, poeira e restos de concreto/argamassa.</a:t>
            </a:r>
          </a:p>
          <a:p>
            <a:pPr>
              <a:spcAft>
                <a:spcPts val="700"/>
              </a:spcAft>
              <a:defRPr sz="1750">
                <a:solidFill>
                  <a:srgbClr val="23282D"/>
                </a:solidFill>
                <a:latin typeface="Aptos"/>
              </a:defRPr>
            </a:pPr>
            <a:r>
              <a:t>Abrir e recompor falhas até encontrar base firme e aderente.</a:t>
            </a:r>
          </a:p>
          <a:p>
            <a:pPr>
              <a:spcAft>
                <a:spcPts val="700"/>
              </a:spcAft>
              <a:defRPr sz="1750">
                <a:solidFill>
                  <a:srgbClr val="23282D"/>
                </a:solidFill>
                <a:latin typeface="Aptos"/>
              </a:defRPr>
            </a:pPr>
            <a:r>
              <a:t>Rechumbar o passante com argamassa compatível, bem compactada e sem vazios.</a:t>
            </a:r>
          </a:p>
          <a:p>
            <a:pPr>
              <a:spcAft>
                <a:spcPts val="700"/>
              </a:spcAft>
              <a:defRPr sz="1750">
                <a:solidFill>
                  <a:srgbClr val="23282D"/>
                </a:solidFill>
                <a:latin typeface="Aptos"/>
              </a:defRPr>
            </a:pPr>
            <a:r>
              <a:t>Regularizar o entorno no nível correto, sem lombada, rebaixo, ondulação ou ponto que acumule água.</a:t>
            </a:r>
          </a:p>
          <a:p>
            <a:pPr>
              <a:spcAft>
                <a:spcPts val="700"/>
              </a:spcAft>
              <a:defRPr sz="1750">
                <a:solidFill>
                  <a:srgbClr val="23282D"/>
                </a:solidFill>
                <a:latin typeface="Aptos"/>
              </a:defRPr>
            </a:pPr>
            <a:r>
              <a:t>Desempenar e alisar a superfície, evitando cantos vivos e ressaltos junto ao tubo.</a:t>
            </a:r>
          </a:p>
          <a:p>
            <a:pPr>
              <a:spcAft>
                <a:spcPts val="700"/>
              </a:spcAft>
              <a:defRPr sz="1750">
                <a:solidFill>
                  <a:srgbClr val="23282D"/>
                </a:solidFill>
                <a:latin typeface="Aptos"/>
              </a:defRPr>
            </a:pPr>
            <a:r>
              <a:t>Aguardar cura/liberação conforme procedimento da obra e ficha do produto impermeabilizante.</a:t>
            </a:r>
          </a:p>
        </p:txBody>
      </p:sp>
      <p:pic>
        <p:nvPicPr>
          <p:cNvPr id="6" name="Picture 5" descr="foto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552" y="1417320"/>
            <a:ext cx="2516814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37960" y="5577840"/>
            <a:ext cx="4572000" cy="457200"/>
          </a:xfrm>
          <a:prstGeom prst="rect">
            <a:avLst/>
          </a:prstGeom>
          <a:solidFill>
            <a:srgbClr val="A63737"/>
          </a:solidFill>
          <a:ln>
            <a:solidFill>
              <a:srgbClr val="A6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93408" y="5696712"/>
            <a:ext cx="4251960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Não corrigir com uma demão mais grossa de impermeabilizante. A base precisa ser corrigida antes.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2600" b="1">
                <a:solidFill>
                  <a:srgbClr val="23282D"/>
                </a:solidFill>
                <a:latin typeface="Aptos"/>
              </a:defRPr>
            </a:pPr>
            <a:r>
              <a:t>Passo a passo recomendado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2743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0">
                <a:solidFill>
                  <a:srgbClr val="5F676E"/>
                </a:solidFill>
                <a:latin typeface="Aptos"/>
              </a:defRPr>
            </a:pPr>
            <a:r>
              <a:t>Sequência simples para padronizar a execução.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1F5B7A"/>
          </a:solidFill>
          <a:ln>
            <a:solidFill>
              <a:srgbClr val="1F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205740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182880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800" b="1">
                <a:solidFill>
                  <a:srgbClr val="1F5B7A"/>
                </a:solidFill>
                <a:latin typeface="Aptos"/>
              </a:defRPr>
            </a:pPr>
            <a:r>
              <a:t>1. Preparar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691640" cy="20574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350" b="0">
                <a:solidFill>
                  <a:srgbClr val="23282D"/>
                </a:solidFill>
                <a:latin typeface="Aptos"/>
              </a:defRPr>
            </a:pPr>
            <a:r>
              <a:t>Limpar, remover partes soltas e umedecer/saturar somente quando o procedimento exigir.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508760"/>
            <a:ext cx="205740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1783080"/>
            <a:ext cx="182880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800" b="1">
                <a:solidFill>
                  <a:srgbClr val="1F5B7A"/>
                </a:solidFill>
                <a:latin typeface="Aptos"/>
              </a:defRPr>
            </a:pPr>
            <a:r>
              <a:t>2. Fixar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23160"/>
            <a:ext cx="1691640" cy="20574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350" b="0">
                <a:solidFill>
                  <a:srgbClr val="23282D"/>
                </a:solidFill>
                <a:latin typeface="Aptos"/>
              </a:defRPr>
            </a:pPr>
            <a:r>
              <a:t>Garantir que o passante esteja firme e na posição correta antes de preencher.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1508760"/>
            <a:ext cx="205740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76088" y="1783080"/>
            <a:ext cx="182880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800" b="1">
                <a:solidFill>
                  <a:srgbClr val="1F5B7A"/>
                </a:solidFill>
                <a:latin typeface="Aptos"/>
              </a:defRPr>
            </a:pPr>
            <a:r>
              <a:t>3. Preencher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423160"/>
            <a:ext cx="1691640" cy="20574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350" b="0">
                <a:solidFill>
                  <a:srgbClr val="23282D"/>
                </a:solidFill>
                <a:latin typeface="Aptos"/>
              </a:defRPr>
            </a:pPr>
            <a:r>
              <a:t>Aplicar argamassa em camadas compactadas, sem deixar vazios junto ao tubo.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508760"/>
            <a:ext cx="205740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8" y="1783080"/>
            <a:ext cx="182880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800" b="1">
                <a:solidFill>
                  <a:srgbClr val="1F5B7A"/>
                </a:solidFill>
                <a:latin typeface="Aptos"/>
              </a:defRPr>
            </a:pPr>
            <a:r>
              <a:t>4. Regularizar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423160"/>
            <a:ext cx="1691640" cy="20574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350" b="0">
                <a:solidFill>
                  <a:srgbClr val="23282D"/>
                </a:solidFill>
                <a:latin typeface="Aptos"/>
              </a:defRPr>
            </a:pPr>
            <a:r>
              <a:t>Nivelar, desempenar e eliminar ondulações, ressaltos e cantos vivos.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08760"/>
            <a:ext cx="205740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783080"/>
            <a:ext cx="182880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800" b="1">
                <a:solidFill>
                  <a:srgbClr val="1F5B7A"/>
                </a:solidFill>
                <a:latin typeface="Aptos"/>
              </a:defRPr>
            </a:pPr>
            <a:r>
              <a:t>5. Conferir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423160"/>
            <a:ext cx="1691640" cy="20574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350" b="0">
                <a:solidFill>
                  <a:srgbClr val="23282D"/>
                </a:solidFill>
                <a:latin typeface="Aptos"/>
              </a:defRPr>
            </a:pPr>
            <a:r>
              <a:t>Checar aderência, limpeza, nivelamento, cura e compatibilidade com impermeabilização.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2600" b="1">
                <a:solidFill>
                  <a:srgbClr val="23282D"/>
                </a:solidFill>
                <a:latin typeface="Aptos"/>
              </a:defRPr>
            </a:pPr>
            <a:r>
              <a:t>Checklist de liberação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2743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0">
                <a:solidFill>
                  <a:srgbClr val="5F676E"/>
                </a:solidFill>
                <a:latin typeface="Aptos"/>
              </a:defRPr>
            </a:pPr>
            <a:r>
              <a:t>Use antes de chamar a equipe de impermeabilização.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1F5B7A"/>
          </a:solidFill>
          <a:ln>
            <a:solidFill>
              <a:srgbClr val="1F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577840" cy="4526280"/>
          </a:xfrm>
          <a:prstGeom prst="rect">
            <a:avLst/>
          </a:prstGeom>
          <a:noFill/>
        </p:spPr>
        <p:txBody>
          <a:bodyPr wrap="none" lIns="109728" rIns="109728" tIns="73152" bIns="7315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[  ] O passante está fixo e sem jogo?</a:t>
            </a:r>
          </a:p>
          <a:p>
            <a:pPr>
              <a:spcAft>
                <a:spcPts val="7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[  ] O entorno está totalmente preenchido?</a:t>
            </a:r>
          </a:p>
          <a:p>
            <a:pPr>
              <a:spcAft>
                <a:spcPts val="7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[  ] Não há vazios, ninhos, trincas ou bordas quebradas?</a:t>
            </a:r>
          </a:p>
          <a:p>
            <a:pPr>
              <a:spcAft>
                <a:spcPts val="7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[  ] A superfície está lisa, coesa e sem partes soltas?</a:t>
            </a:r>
          </a:p>
          <a:p>
            <a:pPr>
              <a:spcAft>
                <a:spcPts val="7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[  ] O nível está correto, sem ondulação ou empoçamento?</a:t>
            </a:r>
          </a:p>
          <a:p>
            <a:pPr>
              <a:spcAft>
                <a:spcPts val="7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[  ] A área está limpa e sem pó, óleo, graxa ou detritos?</a:t>
            </a:r>
          </a:p>
          <a:p>
            <a:pPr>
              <a:spcAft>
                <a:spcPts val="7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[  ] A cura/tempo de liberação foi respeitada?</a:t>
            </a:r>
          </a:p>
          <a:p>
            <a:pPr>
              <a:spcAft>
                <a:spcPts val="7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[  ] O arremate atende ao detalhe de impermeabilização da obra?</a:t>
            </a:r>
          </a:p>
        </p:txBody>
      </p:sp>
      <p:sp>
        <p:nvSpPr>
          <p:cNvPr id="6" name="Rectangle 5"/>
          <p:cNvSpPr/>
          <p:nvPr/>
        </p:nvSpPr>
        <p:spPr>
          <a:xfrm>
            <a:off x="6903720" y="1508760"/>
            <a:ext cx="42976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1828800"/>
            <a:ext cx="356616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2200" b="1">
                <a:solidFill>
                  <a:srgbClr val="2D7D4E"/>
                </a:solidFill>
                <a:latin typeface="Aptos"/>
              </a:defRPr>
            </a:pPr>
            <a:r>
              <a:t>Critério de aceite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606040"/>
            <a:ext cx="3429000" cy="20116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700" b="0">
                <a:solidFill>
                  <a:srgbClr val="23282D"/>
                </a:solidFill>
                <a:latin typeface="Aptos"/>
              </a:defRPr>
            </a:pPr>
            <a:r>
              <a:t>Passou no checklist: libera para impermeabilização.</a:t>
            </a:r>
            <a:br/>
            <a:br/>
            <a:r>
              <a:t>Falhou em qualquer item: corrige antes. O custo de corrigir agora é menor que reparar infiltração depois.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2600" b="1">
                <a:solidFill>
                  <a:srgbClr val="23282D"/>
                </a:solidFill>
                <a:latin typeface="Aptos"/>
              </a:defRPr>
            </a:pPr>
            <a:r>
              <a:t>Fixação rápida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2743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0">
                <a:solidFill>
                  <a:srgbClr val="5F676E"/>
                </a:solidFill>
                <a:latin typeface="Aptos"/>
              </a:defRPr>
            </a:pPr>
            <a:r>
              <a:t>Perguntas para fechar o treinamento em campo.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1F5B7A"/>
          </a:solidFill>
          <a:ln>
            <a:solidFill>
              <a:srgbClr val="1F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577840" cy="4114800"/>
          </a:xfrm>
          <a:prstGeom prst="rect">
            <a:avLst/>
          </a:prstGeom>
          <a:noFill/>
        </p:spPr>
        <p:txBody>
          <a:bodyPr wrap="none" lIns="109728" rIns="109728" tIns="73152" bIns="73152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82D"/>
                </a:solidFill>
                <a:latin typeface="Aptos"/>
              </a:defRPr>
            </a:pPr>
            <a:r>
              <a:t>1. Por que a ondulação ao redor do passante não pode ser aceita?</a:t>
            </a:r>
          </a:p>
          <a:p>
            <a:pPr>
              <a:spcAft>
                <a:spcPts val="700"/>
              </a:spcAft>
              <a:defRPr sz="2000">
                <a:solidFill>
                  <a:srgbClr val="23282D"/>
                </a:solidFill>
                <a:latin typeface="Aptos"/>
              </a:defRPr>
            </a:pPr>
            <a:r>
              <a:t>2. O que deve ser feito quando há vazio junto ao tubo ou à parede?</a:t>
            </a:r>
          </a:p>
          <a:p>
            <a:pPr>
              <a:spcAft>
                <a:spcPts val="700"/>
              </a:spcAft>
              <a:defRPr sz="2000">
                <a:solidFill>
                  <a:srgbClr val="23282D"/>
                </a:solidFill>
                <a:latin typeface="Aptos"/>
              </a:defRPr>
            </a:pPr>
            <a:r>
              <a:t>3. Qual é o risco de impermeabilizar sobre poeira ou nata fraca?</a:t>
            </a:r>
          </a:p>
          <a:p>
            <a:pPr>
              <a:spcAft>
                <a:spcPts val="700"/>
              </a:spcAft>
              <a:defRPr sz="2000">
                <a:solidFill>
                  <a:srgbClr val="23282D"/>
                </a:solidFill>
                <a:latin typeface="Aptos"/>
              </a:defRPr>
            </a:pPr>
            <a:r>
              <a:t>4. Cite três itens do checklist antes de liberar a área.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508760"/>
            <a:ext cx="4389120" cy="4160520"/>
          </a:xfrm>
          <a:prstGeom prst="rect">
            <a:avLst/>
          </a:prstGeom>
          <a:solidFill>
            <a:srgbClr val="1F5B7A"/>
          </a:solidFill>
          <a:ln>
            <a:solidFill>
              <a:srgbClr val="1F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874519"/>
            <a:ext cx="3749039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Mensagem-chave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651760"/>
            <a:ext cx="3474720" cy="150876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Impermeabilizante não corrige base ruim.</a:t>
            </a:r>
            <a:br/>
            <a:br/>
            <a:r>
              <a:t>Chumbamento correto é base firme, lisa, nivelada e limpa.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2600" b="1">
                <a:solidFill>
                  <a:srgbClr val="23282D"/>
                </a:solidFill>
                <a:latin typeface="Aptos"/>
              </a:defRPr>
            </a:pPr>
            <a:r>
              <a:t>Referências usadas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881360" cy="2743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1050" b="0">
                <a:solidFill>
                  <a:srgbClr val="5F676E"/>
                </a:solidFill>
                <a:latin typeface="Aptos"/>
              </a:defRPr>
            </a:pPr>
            <a:r>
              <a:t>Conteúdo técnico resumido para treinamento interno.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1F5B7A"/>
          </a:solidFill>
          <a:ln>
            <a:solidFill>
              <a:srgbClr val="1F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343400"/>
          </a:xfrm>
          <a:prstGeom prst="rect">
            <a:avLst/>
          </a:prstGeom>
          <a:noFill/>
        </p:spPr>
        <p:txBody>
          <a:bodyPr wrap="none" lIns="109728" rIns="109728" tIns="73152" bIns="7315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ABNT NBR 9575: requisitos de projeto para garantir estanqueidade e compatibilidade do sistema de impermeabilização.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ABNT NBR 9574: execução de impermeabilização, incluindo preparo da base e detalhes críticos.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UTFPR, Sistemas de impermeabilização: regularização uniforme, coesa, aderida, sem protuberâncias; passantes e ralos rigidamente fixados.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IBI, Casos reais de preparação de superfícies: a qualidade da base é pré-requisito para o desempenho da impermeabilização.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Quartzolit/Vedacit: substrato limpo, seco/íntegro conforme produto, sem pó, óleo, graxa, detritos ou irregularidades.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10149840" cy="21945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>
              <a:defRPr sz="950" b="0">
                <a:solidFill>
                  <a:srgbClr val="5F676E"/>
                </a:solidFill>
                <a:latin typeface="Aptos"/>
              </a:defRPr>
            </a:pPr>
            <a:r>
              <a:t>Links consultados: repositorio.utfpr.edu.br | ibibrasil.org.br | blok.com.br | quartzolit.weber | vedacit.com.br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